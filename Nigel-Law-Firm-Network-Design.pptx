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18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44626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3519302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2217637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464292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850644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63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36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9272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445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620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8507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047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129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239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563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9777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505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59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6523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551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7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209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1801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87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4330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5241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E1A2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656024" name="Text 0"/>
          <p:cNvSpPr txBox="1"/>
          <p:nvPr/>
        </p:nvSpPr>
        <p:spPr bwMode="auto"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spc="300">
                <a:solidFill>
                  <a:srgbClr val="F5B83D"/>
                </a:solidFill>
                <a:latin typeface="Calibri"/>
                <a:ea typeface="Calibri"/>
                <a:cs typeface="Calibri"/>
              </a:rPr>
              <a:t>DATA COMMUNICATION &amp; NETWORKING | GROUP 3</a:t>
            </a:r>
            <a:endParaRPr lang="en-US" sz="1600"/>
          </a:p>
        </p:txBody>
      </p:sp>
      <p:sp>
        <p:nvSpPr>
          <p:cNvPr id="938692235" name="Text 1"/>
          <p:cNvSpPr txBox="1"/>
          <p:nvPr/>
        </p:nvSpPr>
        <p:spPr bwMode="auto"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 Requirements Analysis &amp; Design</a:t>
            </a:r>
            <a:endParaRPr lang="en-US" sz="4800"/>
          </a:p>
        </p:txBody>
      </p:sp>
      <p:sp>
        <p:nvSpPr>
          <p:cNvPr id="232728496" name="Text 2"/>
          <p:cNvSpPr txBox="1"/>
          <p:nvPr/>
        </p:nvSpPr>
        <p:spPr bwMode="auto"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B6C2D1"/>
                </a:solidFill>
                <a:latin typeface="Calibri"/>
                <a:ea typeface="Calibri"/>
                <a:cs typeface="Calibri"/>
              </a:rPr>
              <a:t>Organisation modelled: Nigel Law Firm</a:t>
            </a:r>
            <a:endParaRPr lang="en-US" sz="2400"/>
          </a:p>
        </p:txBody>
      </p:sp>
      <p:sp>
        <p:nvSpPr>
          <p:cNvPr id="953930599" name="Text 3"/>
          <p:cNvSpPr txBox="1"/>
          <p:nvPr/>
        </p:nvSpPr>
        <p:spPr bwMode="auto"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B6C2D1"/>
                </a:solidFill>
                <a:latin typeface="Calibri"/>
                <a:ea typeface="Calibri"/>
                <a:cs typeface="Calibri"/>
              </a:rPr>
              <a:t>Victoria University Kampala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498136" name="Shape 0"/>
          <p:cNvSpPr/>
          <p:nvPr/>
        </p:nvSpPr>
        <p:spPr bwMode="auto">
          <a:xfrm>
            <a:off x="0" y="0"/>
            <a:ext cx="12188952" cy="109728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230456660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Group 3 members</a:t>
            </a:r>
            <a:endParaRPr lang="en-US" sz="3000"/>
          </a:p>
        </p:txBody>
      </p:sp>
      <p:sp>
        <p:nvSpPr>
          <p:cNvPr id="750931221" name="Text 2"/>
          <p:cNvSpPr txBox="1"/>
          <p:nvPr/>
        </p:nvSpPr>
        <p:spPr bwMode="auto">
          <a:xfrm>
            <a:off x="731520" y="14630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1.  Senabulya Elijah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2.  Happy Ategeka Wilfred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3.  Tumusiime Judiya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4.  Mirembe Bathshebah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5.  Tumukundane Ambrose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6.  Kemigisha Chicky Abigail</a:t>
            </a:r>
            <a:endParaRPr lang="en-US" sz="2200"/>
          </a:p>
        </p:txBody>
      </p:sp>
      <p:sp>
        <p:nvSpPr>
          <p:cNvPr id="748412229" name="Text 3"/>
          <p:cNvSpPr txBox="1"/>
          <p:nvPr/>
        </p:nvSpPr>
        <p:spPr bwMode="auto">
          <a:xfrm>
            <a:off x="6217920" y="14630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7.  Naiga Kevin Nana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8.  Katongole Jordan Happy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9.  Mawanda Isaac Newton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10.  Kimbugwe Collin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11.  Lubega Paul</a:t>
            </a:r>
            <a:endParaRPr lang="en-US" sz="22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2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12.  Kharbino Diing Lual</a:t>
            </a:r>
            <a:endParaRPr lang="en-US" sz="2200"/>
          </a:p>
        </p:txBody>
      </p:sp>
      <p:sp>
        <p:nvSpPr>
          <p:cNvPr id="1269917293" name="Text 4"/>
          <p:cNvSpPr txBox="1"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Data Communication &amp; Networking | Victoria University Kampala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683957" name="Shape 0"/>
          <p:cNvSpPr/>
          <p:nvPr/>
        </p:nvSpPr>
        <p:spPr bwMode="auto">
          <a:xfrm>
            <a:off x="0" y="0"/>
            <a:ext cx="12188952" cy="109728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1800393577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The organisation and what it needs</a:t>
            </a:r>
            <a:endParaRPr lang="en-US" sz="3000"/>
          </a:p>
        </p:txBody>
      </p:sp>
      <p:sp>
        <p:nvSpPr>
          <p:cNvPr id="307944207" name="Shape 2"/>
          <p:cNvSpPr/>
          <p:nvPr/>
        </p:nvSpPr>
        <p:spPr bwMode="auto">
          <a:xfrm>
            <a:off x="548640" y="1371600"/>
            <a:ext cx="265176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43158685" name="Text 3"/>
          <p:cNvSpPr txBox="1"/>
          <p:nvPr/>
        </p:nvSpPr>
        <p:spPr bwMode="auto">
          <a:xfrm>
            <a:off x="54864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4400"/>
          </a:p>
        </p:txBody>
      </p:sp>
      <p:sp>
        <p:nvSpPr>
          <p:cNvPr id="327025175" name="Text 4"/>
          <p:cNvSpPr txBox="1"/>
          <p:nvPr/>
        </p:nvSpPr>
        <p:spPr bwMode="auto">
          <a:xfrm>
            <a:off x="54864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users</a:t>
            </a:r>
            <a:endParaRPr lang="en-US" sz="1600"/>
          </a:p>
        </p:txBody>
      </p:sp>
      <p:sp>
        <p:nvSpPr>
          <p:cNvPr id="1227923037" name="Shape 5"/>
          <p:cNvSpPr/>
          <p:nvPr/>
        </p:nvSpPr>
        <p:spPr bwMode="auto">
          <a:xfrm>
            <a:off x="3383280" y="1371600"/>
            <a:ext cx="265176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07010960" name="Text 6"/>
          <p:cNvSpPr txBox="1"/>
          <p:nvPr/>
        </p:nvSpPr>
        <p:spPr bwMode="auto">
          <a:xfrm>
            <a:off x="338328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30</a:t>
            </a:r>
            <a:endParaRPr lang="en-US" sz="4400"/>
          </a:p>
        </p:txBody>
      </p:sp>
      <p:sp>
        <p:nvSpPr>
          <p:cNvPr id="600578389" name="Text 7"/>
          <p:cNvSpPr txBox="1"/>
          <p:nvPr/>
        </p:nvSpPr>
        <p:spPr bwMode="auto"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end devices</a:t>
            </a:r>
            <a:endParaRPr lang="en-US" sz="1600"/>
          </a:p>
        </p:txBody>
      </p:sp>
      <p:sp>
        <p:nvSpPr>
          <p:cNvPr id="203115119" name="Shape 8"/>
          <p:cNvSpPr/>
          <p:nvPr/>
        </p:nvSpPr>
        <p:spPr bwMode="auto">
          <a:xfrm>
            <a:off x="6217920" y="1371600"/>
            <a:ext cx="265176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97759403" name="Text 9"/>
          <p:cNvSpPr txBox="1"/>
          <p:nvPr/>
        </p:nvSpPr>
        <p:spPr bwMode="auto">
          <a:xfrm>
            <a:off x="621792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4400"/>
          </a:p>
        </p:txBody>
      </p:sp>
      <p:sp>
        <p:nvSpPr>
          <p:cNvPr id="1106404150" name="Text 10"/>
          <p:cNvSpPr txBox="1"/>
          <p:nvPr/>
        </p:nvSpPr>
        <p:spPr bwMode="auto">
          <a:xfrm>
            <a:off x="6217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floors + server room</a:t>
            </a:r>
            <a:endParaRPr lang="en-US" sz="1600"/>
          </a:p>
        </p:txBody>
      </p:sp>
      <p:sp>
        <p:nvSpPr>
          <p:cNvPr id="1519539718" name="Shape 11"/>
          <p:cNvSpPr/>
          <p:nvPr/>
        </p:nvSpPr>
        <p:spPr bwMode="auto">
          <a:xfrm>
            <a:off x="9052560" y="1371600"/>
            <a:ext cx="265176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56661999" name="Text 12"/>
          <p:cNvSpPr txBox="1"/>
          <p:nvPr/>
        </p:nvSpPr>
        <p:spPr bwMode="auto">
          <a:xfrm>
            <a:off x="905256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6</a:t>
            </a:r>
            <a:endParaRPr lang="en-US" sz="4400"/>
          </a:p>
        </p:txBody>
      </p:sp>
      <p:sp>
        <p:nvSpPr>
          <p:cNvPr id="1801854604" name="Text 13"/>
          <p:cNvSpPr txBox="1"/>
          <p:nvPr/>
        </p:nvSpPr>
        <p:spPr bwMode="auto">
          <a:xfrm>
            <a:off x="90525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departments / VLANs</a:t>
            </a:r>
            <a:endParaRPr lang="en-US" sz="1600"/>
          </a:p>
        </p:txBody>
      </p:sp>
      <p:sp>
        <p:nvSpPr>
          <p:cNvPr id="331051276" name="Text 14"/>
          <p:cNvSpPr txBox="1"/>
          <p:nvPr/>
        </p:nvSpPr>
        <p:spPr bwMode="auto">
          <a:xfrm>
            <a:off x="54864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Required services</a:t>
            </a:r>
            <a:endParaRPr lang="en-US" sz="2000"/>
          </a:p>
        </p:txBody>
      </p:sp>
      <p:sp>
        <p:nvSpPr>
          <p:cNvPr id="593601105" name="Text 15"/>
          <p:cNvSpPr txBox="1"/>
          <p:nvPr/>
        </p:nvSpPr>
        <p:spPr bwMode="auto">
          <a:xfrm>
            <a:off x="548640" y="35661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Internet for all staff through one NAT gateway</a:t>
            </a:r>
            <a:endParaRPr lang="en-US" sz="17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File sharing on a central File Server</a:t>
            </a:r>
            <a:endParaRPr lang="en-US" sz="17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Centralized printing: 3 network printers</a:t>
            </a:r>
            <a:endParaRPr lang="en-US" sz="17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DHCP and DNS from one server</a:t>
            </a:r>
            <a:endParaRPr lang="en-US" sz="17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VoIP between 5 IP phones (Call Manager Express)</a:t>
            </a:r>
            <a:endParaRPr lang="en-US" sz="1700"/>
          </a:p>
        </p:txBody>
      </p:sp>
      <p:sp>
        <p:nvSpPr>
          <p:cNvPr id="412175438" name="Text 16"/>
          <p:cNvSpPr txBox="1"/>
          <p:nvPr/>
        </p:nvSpPr>
        <p:spPr bwMode="auto">
          <a:xfrm>
            <a:off x="630936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Why it is not a generic office network</a:t>
            </a:r>
            <a:endParaRPr lang="en-US" sz="2000"/>
          </a:p>
        </p:txBody>
      </p:sp>
      <p:sp>
        <p:nvSpPr>
          <p:cNvPr id="349527164" name="Text 17"/>
          <p:cNvSpPr txBox="1"/>
          <p:nvPr/>
        </p:nvSpPr>
        <p:spPr bwMode="auto">
          <a:xfrm>
            <a:off x="6309360" y="35661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The firm handles confidential client case files. Privacy comes first: only authorised staff may reach them, and reception and guests must stay away from the file server.</a:t>
            </a:r>
            <a:endParaRPr lang="en-US" sz="1700"/>
          </a:p>
        </p:txBody>
      </p:sp>
      <p:sp>
        <p:nvSpPr>
          <p:cNvPr id="849057000" name="Text 18"/>
          <p:cNvSpPr txBox="1"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 Data Communication &amp; Networking | Victoria University Kampala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323057" name="Shape 0"/>
          <p:cNvSpPr/>
          <p:nvPr/>
        </p:nvSpPr>
        <p:spPr bwMode="auto">
          <a:xfrm>
            <a:off x="0" y="0"/>
            <a:ext cx="12188952" cy="109728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794449418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Topology: extended star</a:t>
            </a:r>
            <a:endParaRPr lang="en-US" sz="3000"/>
          </a:p>
        </p:txBody>
      </p:sp>
      <p:pic>
        <p:nvPicPr>
          <p:cNvPr id="1265498215" name="Image 0" descr="topolog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54480" y="1143000"/>
            <a:ext cx="9052560" cy="5184648"/>
          </a:xfrm>
          <a:prstGeom prst="rect">
            <a:avLst/>
          </a:prstGeom>
        </p:spPr>
      </p:pic>
      <p:sp>
        <p:nvSpPr>
          <p:cNvPr id="1247479929" name="Text 2"/>
          <p:cNvSpPr txBox="1"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 Data Communication &amp; Networking | Victoria University Kampala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900364" name="Shape 0"/>
          <p:cNvSpPr/>
          <p:nvPr/>
        </p:nvSpPr>
        <p:spPr bwMode="auto">
          <a:xfrm>
            <a:off x="0" y="0"/>
            <a:ext cx="12188952" cy="109728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1617827475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Addressing plan: 192.168.10.0/24 in /28 blocks</a:t>
            </a:r>
            <a:endParaRPr lang="en-US" sz="3000"/>
          </a:p>
        </p:txBody>
      </p:sp>
      <p:graphicFrame>
        <p:nvGraphicFramePr>
          <p:cNvPr id="85965798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280160"/>
          <a:ext cx="110642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05840"/>
                <a:gridCol w="3566160"/>
                <a:gridCol w="2468880"/>
                <a:gridCol w="2103120"/>
                <a:gridCol w="1920240"/>
              </a:tblGrid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VLAN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Department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Network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Gateway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Usable range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  <a:solidFill>
                      <a:srgbClr val="0E1A2B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Front Desk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192.168.10.0/28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.2 – .14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Partners Chambers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192.168.10.16/28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192.168.10.17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.18 – .30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Associates / Legal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192.168.10.32/28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192.168.10.33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.34 – .46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Accounts &amp; Finance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192.168.10.48/28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192.168.10.49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.50 – .62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Managing Partner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192.168.10.64/28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192.168.10.65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.66 – .78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IT / Admin / Library + Servers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192.168.10.80/28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192.168.10.81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0E1A2B"/>
                          </a:solidFill>
                          <a:latin typeface="Calibri"/>
                          <a:ea typeface="Calibri"/>
                          <a:cs typeface="Calibri"/>
                        </a:rPr>
                        <a:t>.82 – .94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C9D3E0"/>
                      </a:solidFill>
                    </a:lnL>
                    <a:lnR w="12700" algn="ctr">
                      <a:solidFill>
                        <a:srgbClr val="C9D3E0"/>
                      </a:solidFill>
                    </a:lnR>
                    <a:lnT w="12700" algn="ctr">
                      <a:solidFill>
                        <a:srgbClr val="C9D3E0"/>
                      </a:solidFill>
                    </a:lnT>
                    <a:lnB w="12700" algn="ctr">
                      <a:solidFill>
                        <a:srgbClr val="C9D3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62192920" name="Text 2"/>
          <p:cNvSpPr txBox="1"/>
          <p:nvPr/>
        </p:nvSpPr>
        <p:spPr bwMode="auto"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Mask 255.255.255.240: 16 addresses per block, 13 usable once network, broadcast and gateway are counted. File Server is 192.168.10.86, DHCP/DNS Server is 192.168.10.87.</a:t>
            </a:r>
            <a:endParaRPr lang="en-US" sz="1600"/>
          </a:p>
        </p:txBody>
      </p:sp>
      <p:sp>
        <p:nvSpPr>
          <p:cNvPr id="1410922180" name="Text 3"/>
          <p:cNvSpPr txBox="1"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 Data Communication &amp; Networking | Victoria University Kampala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087863" name="Shape 0"/>
          <p:cNvSpPr/>
          <p:nvPr/>
        </p:nvSpPr>
        <p:spPr bwMode="auto">
          <a:xfrm>
            <a:off x="0" y="0"/>
            <a:ext cx="12188952" cy="109728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1173141139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How the network protects client data</a:t>
            </a:r>
            <a:endParaRPr lang="en-US" sz="3000"/>
          </a:p>
        </p:txBody>
      </p:sp>
      <p:sp>
        <p:nvSpPr>
          <p:cNvPr id="466684464" name="Shape 2"/>
          <p:cNvSpPr/>
          <p:nvPr/>
        </p:nvSpPr>
        <p:spPr bwMode="auto">
          <a:xfrm>
            <a:off x="548640" y="137160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22088498" name="Shape 3"/>
          <p:cNvSpPr/>
          <p:nvPr/>
        </p:nvSpPr>
        <p:spPr bwMode="auto">
          <a:xfrm>
            <a:off x="548640" y="137160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503055093" name="Text 4"/>
          <p:cNvSpPr txBox="1"/>
          <p:nvPr/>
        </p:nvSpPr>
        <p:spPr bwMode="auto">
          <a:xfrm>
            <a:off x="868680" y="1508759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ACLs</a:t>
            </a:r>
            <a:endParaRPr lang="en-US" sz="2000"/>
          </a:p>
        </p:txBody>
      </p:sp>
      <p:sp>
        <p:nvSpPr>
          <p:cNvPr id="1889085182" name="Text 5"/>
          <p:cNvSpPr txBox="1"/>
          <p:nvPr/>
        </p:nvSpPr>
        <p:spPr bwMode="auto">
          <a:xfrm>
            <a:off x="86868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Front Desk (VLAN 10) is denied access to the File Server</a:t>
            </a:r>
            <a:endParaRPr lang="en-US" sz="1600"/>
          </a:p>
        </p:txBody>
      </p:sp>
      <p:sp>
        <p:nvSpPr>
          <p:cNvPr id="1644826900" name="Shape 6"/>
          <p:cNvSpPr/>
          <p:nvPr/>
        </p:nvSpPr>
        <p:spPr bwMode="auto">
          <a:xfrm>
            <a:off x="6172200" y="137160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53169680" name="Shape 7"/>
          <p:cNvSpPr/>
          <p:nvPr/>
        </p:nvSpPr>
        <p:spPr bwMode="auto">
          <a:xfrm>
            <a:off x="6172200" y="137160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180845513" name="Text 8"/>
          <p:cNvSpPr txBox="1"/>
          <p:nvPr/>
        </p:nvSpPr>
        <p:spPr bwMode="auto">
          <a:xfrm>
            <a:off x="6492240" y="1508759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Firewall</a:t>
            </a:r>
            <a:endParaRPr lang="en-US" sz="2000"/>
          </a:p>
        </p:txBody>
      </p:sp>
      <p:sp>
        <p:nvSpPr>
          <p:cNvPr id="284707150" name="Text 9"/>
          <p:cNvSpPr txBox="1"/>
          <p:nvPr/>
        </p:nvSpPr>
        <p:spPr bwMode="auto">
          <a:xfrm>
            <a:off x="649224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Router only lets in return traffic for connections started inside</a:t>
            </a:r>
            <a:endParaRPr lang="en-US" sz="1600"/>
          </a:p>
        </p:txBody>
      </p:sp>
      <p:sp>
        <p:nvSpPr>
          <p:cNvPr id="579583198" name="Shape 10"/>
          <p:cNvSpPr/>
          <p:nvPr/>
        </p:nvSpPr>
        <p:spPr bwMode="auto">
          <a:xfrm>
            <a:off x="548640" y="292608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46136138" name="Shape 11"/>
          <p:cNvSpPr/>
          <p:nvPr/>
        </p:nvSpPr>
        <p:spPr bwMode="auto">
          <a:xfrm>
            <a:off x="548640" y="292608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2819959" name="Text 12"/>
          <p:cNvSpPr txBox="1"/>
          <p:nvPr/>
        </p:nvSpPr>
        <p:spPr bwMode="auto">
          <a:xfrm>
            <a:off x="86868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Encryption</a:t>
            </a:r>
            <a:endParaRPr lang="en-US" sz="2000"/>
          </a:p>
        </p:txBody>
      </p:sp>
      <p:sp>
        <p:nvSpPr>
          <p:cNvPr id="41804751" name="Text 13"/>
          <p:cNvSpPr txBox="1"/>
          <p:nvPr/>
        </p:nvSpPr>
        <p:spPr bwMode="auto">
          <a:xfrm>
            <a:off x="86868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Case files are encrypted at rest on the File Server</a:t>
            </a:r>
            <a:endParaRPr lang="en-US" sz="1600"/>
          </a:p>
        </p:txBody>
      </p:sp>
      <p:sp>
        <p:nvSpPr>
          <p:cNvPr id="180967399" name="Shape 14"/>
          <p:cNvSpPr/>
          <p:nvPr/>
        </p:nvSpPr>
        <p:spPr bwMode="auto">
          <a:xfrm>
            <a:off x="6172200" y="292608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70400393" name="Shape 15"/>
          <p:cNvSpPr/>
          <p:nvPr/>
        </p:nvSpPr>
        <p:spPr bwMode="auto">
          <a:xfrm>
            <a:off x="6172200" y="292608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052010049" name="Text 16"/>
          <p:cNvSpPr txBox="1"/>
          <p:nvPr/>
        </p:nvSpPr>
        <p:spPr bwMode="auto">
          <a:xfrm>
            <a:off x="64922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Isolation</a:t>
            </a:r>
            <a:endParaRPr lang="en-US" sz="2000"/>
          </a:p>
        </p:txBody>
      </p:sp>
      <p:sp>
        <p:nvSpPr>
          <p:cNvPr id="1971390861" name="Text 17"/>
          <p:cNvSpPr txBox="1"/>
          <p:nvPr/>
        </p:nvSpPr>
        <p:spPr bwMode="auto">
          <a:xfrm>
            <a:off x="649224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Reception and guest Wi-Fi sit in their own VLAN</a:t>
            </a:r>
            <a:endParaRPr lang="en-US" sz="1600"/>
          </a:p>
        </p:txBody>
      </p:sp>
      <p:sp>
        <p:nvSpPr>
          <p:cNvPr id="1267775288" name="Shape 18"/>
          <p:cNvSpPr/>
          <p:nvPr/>
        </p:nvSpPr>
        <p:spPr bwMode="auto">
          <a:xfrm>
            <a:off x="548640" y="448056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22310550" name="Shape 19"/>
          <p:cNvSpPr/>
          <p:nvPr/>
        </p:nvSpPr>
        <p:spPr bwMode="auto">
          <a:xfrm>
            <a:off x="548640" y="448056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569223414" name="Text 20"/>
          <p:cNvSpPr txBox="1"/>
          <p:nvPr/>
        </p:nvSpPr>
        <p:spPr bwMode="auto">
          <a:xfrm>
            <a:off x="86868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WPA2-PSK</a:t>
            </a:r>
            <a:endParaRPr lang="en-US" sz="2000"/>
          </a:p>
        </p:txBody>
      </p:sp>
      <p:sp>
        <p:nvSpPr>
          <p:cNvPr id="1342319579" name="Text 21"/>
          <p:cNvSpPr txBox="1"/>
          <p:nvPr/>
        </p:nvSpPr>
        <p:spPr bwMode="auto">
          <a:xfrm>
            <a:off x="868680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Both wireless access points encrypt traffic</a:t>
            </a:r>
            <a:endParaRPr lang="en-US" sz="1600"/>
          </a:p>
        </p:txBody>
      </p:sp>
      <p:sp>
        <p:nvSpPr>
          <p:cNvPr id="1907231658" name="Shape 22"/>
          <p:cNvSpPr/>
          <p:nvPr/>
        </p:nvSpPr>
        <p:spPr bwMode="auto">
          <a:xfrm>
            <a:off x="6172200" y="4480560"/>
            <a:ext cx="5440680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36703246" name="Shape 23"/>
          <p:cNvSpPr/>
          <p:nvPr/>
        </p:nvSpPr>
        <p:spPr bwMode="auto">
          <a:xfrm>
            <a:off x="6172200" y="4480560"/>
            <a:ext cx="91440" cy="132588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003698949" name="Text 24"/>
          <p:cNvSpPr txBox="1"/>
          <p:nvPr/>
        </p:nvSpPr>
        <p:spPr bwMode="auto">
          <a:xfrm>
            <a:off x="649224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E1A2B"/>
                </a:solidFill>
                <a:latin typeface="Calibri"/>
                <a:ea typeface="Calibri"/>
                <a:cs typeface="Calibri"/>
              </a:rPr>
              <a:t>DHCP Snooping</a:t>
            </a:r>
            <a:endParaRPr lang="en-US" sz="2000"/>
          </a:p>
        </p:txBody>
      </p:sp>
      <p:sp>
        <p:nvSpPr>
          <p:cNvPr id="216282061" name="Text 25"/>
          <p:cNvSpPr txBox="1"/>
          <p:nvPr/>
        </p:nvSpPr>
        <p:spPr bwMode="auto">
          <a:xfrm>
            <a:off x="6492240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Blocks rogue DHCP servers on the core switch</a:t>
            </a:r>
            <a:endParaRPr lang="en-US" sz="1600"/>
          </a:p>
        </p:txBody>
      </p:sp>
      <p:sp>
        <p:nvSpPr>
          <p:cNvPr id="2041000039" name="Text 26"/>
          <p:cNvSpPr txBox="1"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F78"/>
                </a:solidFill>
                <a:latin typeface="Calibri"/>
                <a:ea typeface="Calibri"/>
                <a:cs typeface="Calibri"/>
              </a:rPr>
              <a:t> Data Communication &amp; Networking | Victoria University Kampala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E1A2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147621" name="Text 0"/>
          <p:cNvSpPr txBox="1"/>
          <p:nvPr/>
        </p:nvSpPr>
        <p:spPr bwMode="auto"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design decisions</a:t>
            </a:r>
            <a:endParaRPr lang="en-US" sz="3400"/>
          </a:p>
        </p:txBody>
      </p:sp>
      <p:sp>
        <p:nvSpPr>
          <p:cNvPr id="1366695727" name="Text 1"/>
          <p:cNvSpPr txBox="1"/>
          <p:nvPr/>
        </p:nvSpPr>
        <p:spPr bwMode="auto">
          <a:xfrm>
            <a:off x="731520" y="18288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2200">
                <a:solidFill>
                  <a:srgbClr val="EEF2F7"/>
                </a:solidFill>
                <a:latin typeface="Calibri"/>
                <a:ea typeface="Calibri"/>
                <a:cs typeface="Calibri"/>
              </a:rPr>
              <a:t>Extended star: a fault on one floor does not take down the others</a:t>
            </a:r>
            <a:endParaRPr lang="en-US" sz="220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2200">
                <a:solidFill>
                  <a:srgbClr val="EEF2F7"/>
                </a:solidFill>
                <a:latin typeface="Calibri"/>
                <a:ea typeface="Calibri"/>
                <a:cs typeface="Calibri"/>
              </a:rPr>
              <a:t>Cat6 inside the building, fiber only on the shared ISP link</a:t>
            </a:r>
            <a:endParaRPr lang="en-US" sz="220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2200">
                <a:solidFill>
                  <a:srgbClr val="EEF2F7"/>
                </a:solidFill>
                <a:latin typeface="Calibri"/>
                <a:ea typeface="Calibri"/>
                <a:cs typeface="Calibri"/>
              </a:rPr>
              <a:t>VLANs and ACLs keep case files away from reception and guests</a:t>
            </a:r>
            <a:endParaRPr lang="en-US" sz="220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2200">
                <a:solidFill>
                  <a:srgbClr val="EEF2F7"/>
                </a:solidFill>
                <a:latin typeface="Calibri"/>
                <a:ea typeface="Calibri"/>
                <a:cs typeface="Calibri"/>
              </a:rPr>
              <a:t>One /24 split into /28 blocks: tidy, and enough for the largest department</a:t>
            </a:r>
            <a:endParaRPr lang="en-US" sz="2200"/>
          </a:p>
        </p:txBody>
      </p:sp>
      <p:sp>
        <p:nvSpPr>
          <p:cNvPr id="1540641638" name="Text 2"/>
          <p:cNvSpPr txBox="1"/>
          <p:nvPr/>
        </p:nvSpPr>
        <p:spPr bwMode="auto">
          <a:xfrm>
            <a:off x="73152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5B83D"/>
                </a:solidFill>
                <a:latin typeface="Calibri"/>
                <a:ea typeface="Calibri"/>
                <a:cs typeface="Calibri"/>
              </a:rPr>
              <a:t>Packet Tracer file (.pkt): included in the project repository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Nigel Law Firm Network Design</dc:title>
  <dc:subject>PptxGenJS Presentation</dc:subject>
  <dc:creator>PptxGenJS</dc:creator>
  <cp:lastModifiedBy/>
  <cp:revision>2</cp:revision>
  <dcterms:created xsi:type="dcterms:W3CDTF">2026-10-13T15:51:48Z</dcterms:created>
  <dcterms:modified xsi:type="dcterms:W3CDTF">2026-10-13T16:02:36Z</dcterms:modified>
</cp:coreProperties>
</file>